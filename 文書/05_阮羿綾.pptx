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9" r:id="rId5"/>
    <p:sldId id="278" r:id="rId6"/>
    <p:sldId id="270" r:id="rId7"/>
    <p:sldId id="273" r:id="rId8"/>
    <p:sldId id="274" r:id="rId9"/>
    <p:sldId id="275" r:id="rId10"/>
    <p:sldId id="277" r:id="rId11"/>
    <p:sldId id="27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949"/>
    <a:srgbClr val="F8C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9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18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6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62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72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385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02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51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19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4" name="Text 1"/>
          <p:cNvSpPr/>
          <p:nvPr/>
        </p:nvSpPr>
        <p:spPr>
          <a:xfrm>
            <a:off x="2943223" y="1489979"/>
            <a:ext cx="3257551" cy="64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145" b="1" kern="0" spc="-2" dirty="0">
                <a:solidFill>
                  <a:srgbClr val="494949"/>
                </a:solidFill>
              </a:rPr>
              <a:t>Do </a:t>
            </a:r>
            <a:r>
              <a:rPr lang="en-US" sz="4145" b="1" kern="0" spc="-2" dirty="0" smtClean="0">
                <a:solidFill>
                  <a:srgbClr val="494949"/>
                </a:solidFill>
              </a:rPr>
              <a:t>Better</a:t>
            </a:r>
            <a:r>
              <a:rPr lang="zh-TW" altLang="en-US" sz="4145" b="1" kern="0" spc="-2" dirty="0" smtClean="0">
                <a:solidFill>
                  <a:srgbClr val="494949"/>
                </a:solidFill>
              </a:rPr>
              <a:t> </a:t>
            </a:r>
            <a:r>
              <a:rPr lang="en-US" sz="4145" b="1" kern="0" spc="-2" dirty="0" smtClean="0">
                <a:solidFill>
                  <a:srgbClr val="494949"/>
                </a:solidFill>
              </a:rPr>
              <a:t>You</a:t>
            </a:r>
            <a:endParaRPr lang="en-US" sz="4145" dirty="0">
              <a:solidFill>
                <a:srgbClr val="494949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2253051" y="2388142"/>
            <a:ext cx="4637897" cy="367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3200" b="1" dirty="0" err="1" smtClean="0">
                <a:solidFill>
                  <a:srgbClr val="FFFFFF"/>
                </a:solidFill>
                <a:latin typeface="Noto Sans TC Black" panose="020B0200000000000000" pitchFamily="34" charset="-120"/>
                <a:ea typeface="Noto Sans TC Black" panose="020B0200000000000000" pitchFamily="34" charset="-120"/>
              </a:rPr>
              <a:t>飲食紀錄與運動紀錄</a:t>
            </a:r>
            <a:r>
              <a:rPr lang="zh-TW" altLang="en-US" sz="3200" b="1" dirty="0" smtClean="0">
                <a:solidFill>
                  <a:srgbClr val="FFFFFF"/>
                </a:solidFill>
                <a:latin typeface="Noto Sans TC Black" panose="020B0200000000000000" pitchFamily="34" charset="-120"/>
                <a:ea typeface="Noto Sans TC Black" panose="020B0200000000000000" pitchFamily="34" charset="-120"/>
              </a:rPr>
              <a:t>網站</a:t>
            </a:r>
            <a:endParaRPr lang="en-US" sz="3200" dirty="0">
              <a:latin typeface="Noto Sans TC Black" panose="020B0200000000000000" pitchFamily="34" charset="-120"/>
              <a:ea typeface="Noto Sans TC Black" panose="020B0200000000000000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059037" y="3046474"/>
            <a:ext cx="102592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zh-TW" altLang="en-US" sz="2000" dirty="0" smtClean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專題報告</a:t>
            </a:r>
            <a:endParaRPr lang="en-US" sz="20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2154436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00" b="1" dirty="0" err="1" smtClean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專案摘要與</a:t>
            </a:r>
            <a:r>
              <a:rPr lang="zh-TW" altLang="en-US" sz="2400" b="1" dirty="0" smtClean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技術</a:t>
            </a:r>
            <a:endParaRPr lang="en-US" sz="2400" dirty="0">
              <a:solidFill>
                <a:srgbClr val="494949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1846659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整合式健康管理平台的建置</a:t>
            </a:r>
            <a:endParaRPr lang="en-US" sz="12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534119"/>
            <a:ext cx="3680606" cy="6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本專題旨在建置一套整合式的「飲食與運動紀錄系統」，</a:t>
            </a:r>
            <a:r>
              <a:rPr lang="en-US" sz="1200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協助使用者有效管理每日的飲食內容、</a:t>
            </a:r>
            <a:r>
              <a:rPr lang="en-US" sz="1200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運動狀況，</a:t>
            </a:r>
            <a:r>
              <a:rPr lang="en-US" sz="1200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提升自我健康意識與生活品質</a:t>
            </a:r>
            <a:r>
              <a:rPr lang="en-US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。</a:t>
            </a:r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5983"/>
            <a:ext cx="411431" cy="329144"/>
          </a:xfrm>
          <a:prstGeom prst="rect">
            <a:avLst/>
          </a:prstGeom>
        </p:spPr>
      </p:pic>
      <p:sp>
        <p:nvSpPr>
          <p:cNvPr id="35" name="Text 4"/>
          <p:cNvSpPr/>
          <p:nvPr/>
        </p:nvSpPr>
        <p:spPr>
          <a:xfrm>
            <a:off x="1119102" y="2792739"/>
            <a:ext cx="1316575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前端技術</a:t>
            </a:r>
            <a:endParaRPr lang="en-US" sz="16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6" name="Text 5"/>
          <p:cNvSpPr/>
          <p:nvPr/>
        </p:nvSpPr>
        <p:spPr>
          <a:xfrm>
            <a:off x="635744" y="3245726"/>
            <a:ext cx="997418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HTML5</a:t>
            </a:r>
            <a:endParaRPr lang="en-US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7" name="Text 6"/>
          <p:cNvSpPr/>
          <p:nvPr/>
        </p:nvSpPr>
        <p:spPr>
          <a:xfrm>
            <a:off x="1840745" y="3219750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網頁結構與語意化標籤</a:t>
            </a:r>
          </a:p>
        </p:txBody>
      </p:sp>
      <p:sp>
        <p:nvSpPr>
          <p:cNvPr id="38" name="Text 7"/>
          <p:cNvSpPr/>
          <p:nvPr/>
        </p:nvSpPr>
        <p:spPr>
          <a:xfrm>
            <a:off x="635744" y="3564488"/>
            <a:ext cx="997418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CSS3</a:t>
            </a:r>
            <a:endParaRPr lang="en-US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9" name="Text 8"/>
          <p:cNvSpPr/>
          <p:nvPr/>
        </p:nvSpPr>
        <p:spPr>
          <a:xfrm>
            <a:off x="1840745" y="3551664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樣式設計與響應式布局</a:t>
            </a:r>
          </a:p>
        </p:txBody>
      </p:sp>
      <p:sp>
        <p:nvSpPr>
          <p:cNvPr id="40" name="Text 9"/>
          <p:cNvSpPr/>
          <p:nvPr/>
        </p:nvSpPr>
        <p:spPr>
          <a:xfrm>
            <a:off x="635744" y="4248509"/>
            <a:ext cx="1113672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JavaScript</a:t>
            </a:r>
            <a:endParaRPr lang="en-US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1840745" y="4247108"/>
            <a:ext cx="2413723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互動功能與動態資料處理</a:t>
            </a:r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445" y="1147578"/>
            <a:ext cx="480720" cy="384575"/>
          </a:xfrm>
          <a:prstGeom prst="rect">
            <a:avLst/>
          </a:prstGeom>
        </p:spPr>
      </p:pic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06" y="3056620"/>
            <a:ext cx="330959" cy="264767"/>
          </a:xfrm>
          <a:prstGeom prst="rect">
            <a:avLst/>
          </a:prstGeom>
        </p:spPr>
      </p:pic>
      <p:sp>
        <p:nvSpPr>
          <p:cNvPr id="65" name="Text 4"/>
          <p:cNvSpPr/>
          <p:nvPr/>
        </p:nvSpPr>
        <p:spPr>
          <a:xfrm>
            <a:off x="5813127" y="1248370"/>
            <a:ext cx="1316575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TW" sz="1600" b="1" dirty="0" err="1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後端技術</a:t>
            </a:r>
            <a:endParaRPr lang="en-US" altLang="zh-TW" sz="16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140280" y="1738681"/>
            <a:ext cx="997418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TW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PHP</a:t>
            </a:r>
            <a:endParaRPr lang="en-US" altLang="zh-TW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67" name="Text 6"/>
          <p:cNvSpPr/>
          <p:nvPr/>
        </p:nvSpPr>
        <p:spPr>
          <a:xfrm>
            <a:off x="6345281" y="1712705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伺服器端邏輯、資料驗證</a:t>
            </a:r>
          </a:p>
        </p:txBody>
      </p:sp>
      <p:sp>
        <p:nvSpPr>
          <p:cNvPr id="68" name="Text 7"/>
          <p:cNvSpPr/>
          <p:nvPr/>
        </p:nvSpPr>
        <p:spPr>
          <a:xfrm>
            <a:off x="5140280" y="2057443"/>
            <a:ext cx="997418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TW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Session</a:t>
            </a:r>
            <a:endParaRPr lang="en-US" altLang="zh-TW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69" name="Text 8"/>
          <p:cNvSpPr/>
          <p:nvPr/>
        </p:nvSpPr>
        <p:spPr>
          <a:xfrm>
            <a:off x="6345281" y="2044619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維護使用者登入狀態與權限</a:t>
            </a:r>
          </a:p>
        </p:txBody>
      </p:sp>
      <p:sp>
        <p:nvSpPr>
          <p:cNvPr id="73" name="Text 4"/>
          <p:cNvSpPr/>
          <p:nvPr/>
        </p:nvSpPr>
        <p:spPr>
          <a:xfrm>
            <a:off x="5614165" y="3116203"/>
            <a:ext cx="1923282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TW" sz="16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資料庫設計 (MySQL)</a:t>
            </a:r>
            <a:endParaRPr lang="en-US" altLang="zh-TW" sz="16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74" name="Text 5"/>
          <p:cNvSpPr/>
          <p:nvPr/>
        </p:nvSpPr>
        <p:spPr>
          <a:xfrm>
            <a:off x="5130806" y="3569190"/>
            <a:ext cx="1133473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TW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會員資料表</a:t>
            </a:r>
            <a:endParaRPr lang="en-US" altLang="zh-TW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335808" y="3543214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儲存帳號、密碼與個人資訊</a:t>
            </a:r>
          </a:p>
        </p:txBody>
      </p:sp>
      <p:sp>
        <p:nvSpPr>
          <p:cNvPr id="76" name="Text 7"/>
          <p:cNvSpPr/>
          <p:nvPr/>
        </p:nvSpPr>
        <p:spPr>
          <a:xfrm>
            <a:off x="5130807" y="3887952"/>
            <a:ext cx="1113672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TW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飲食紀錄表</a:t>
            </a:r>
            <a:endParaRPr lang="en-US" altLang="zh-TW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77" name="Text 8"/>
          <p:cNvSpPr/>
          <p:nvPr/>
        </p:nvSpPr>
        <p:spPr>
          <a:xfrm>
            <a:off x="6335808" y="3875128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儲存日期、餐點內容與熱量</a:t>
            </a:r>
          </a:p>
        </p:txBody>
      </p:sp>
      <p:sp>
        <p:nvSpPr>
          <p:cNvPr id="78" name="Text 9"/>
          <p:cNvSpPr/>
          <p:nvPr/>
        </p:nvSpPr>
        <p:spPr>
          <a:xfrm>
            <a:off x="5130807" y="4206933"/>
            <a:ext cx="1113672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TW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運動紀錄表</a:t>
            </a:r>
            <a:endParaRPr lang="en-US" altLang="zh-TW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79" name="Text 8"/>
          <p:cNvSpPr/>
          <p:nvPr/>
        </p:nvSpPr>
        <p:spPr>
          <a:xfrm>
            <a:off x="6335808" y="4167060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儲存日期、運動項目與時間</a:t>
            </a:r>
          </a:p>
        </p:txBody>
      </p:sp>
      <p:sp>
        <p:nvSpPr>
          <p:cNvPr id="80" name="Text 9"/>
          <p:cNvSpPr/>
          <p:nvPr/>
        </p:nvSpPr>
        <p:spPr>
          <a:xfrm>
            <a:off x="635744" y="3900872"/>
            <a:ext cx="1113672" cy="15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Bootstrap</a:t>
            </a:r>
            <a:endParaRPr lang="en-US" sz="14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81" name="Text 8"/>
          <p:cNvSpPr/>
          <p:nvPr/>
        </p:nvSpPr>
        <p:spPr>
          <a:xfrm>
            <a:off x="1840745" y="3897213"/>
            <a:ext cx="2194294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樣式設計與響應式布局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846659" cy="381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TW" altLang="en-US" sz="2400" b="1" dirty="0" smtClean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網站</a:t>
            </a:r>
            <a:r>
              <a:rPr lang="en-US" sz="2400" b="1" dirty="0" smtClean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核心功能</a:t>
            </a:r>
            <a:endParaRPr lang="en-US" sz="2400" dirty="0">
              <a:solidFill>
                <a:srgbClr val="494949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923330" cy="19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網站七大功能</a:t>
            </a:r>
            <a:endParaRPr lang="en-US" sz="12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534120"/>
            <a:ext cx="27571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8C54D"/>
                </a:solidFill>
              </a:rPr>
              <a:t>01</a:t>
            </a:r>
            <a:endParaRPr lang="en-US" sz="2121" dirty="0">
              <a:solidFill>
                <a:srgbClr val="F8C54D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000" y="1569839"/>
            <a:ext cx="836768" cy="177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會員管理系統</a:t>
            </a:r>
            <a:endParaRPr lang="en-US" sz="109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1853803"/>
            <a:ext cx="31432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提供使用者建立個人帳號，</a:t>
            </a: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透過帳號與密碼登入</a:t>
            </a: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網站</a:t>
            </a:r>
            <a:r>
              <a:rPr 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</a:t>
            </a:r>
            <a:r>
              <a:rPr 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確保資料的安全性與專屬性</a:t>
            </a:r>
            <a:endParaRPr lang="en-US" sz="834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2411016"/>
            <a:ext cx="27571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8C54D"/>
                </a:solidFill>
              </a:rPr>
              <a:t>02</a:t>
            </a:r>
            <a:endParaRPr lang="en-US" sz="2121" dirty="0">
              <a:solidFill>
                <a:srgbClr val="F8C54D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3000" y="2446734"/>
            <a:ext cx="836768" cy="177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飲食紀錄功能</a:t>
            </a:r>
            <a:endParaRPr lang="en-US" sz="109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43000" y="2730698"/>
            <a:ext cx="31432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使用者可依日期新增、</a:t>
            </a: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查</a:t>
            </a: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看</a:t>
            </a:r>
            <a:r>
              <a:rPr 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每日的飲食紀錄</a:t>
            </a:r>
            <a:r>
              <a:rPr lang="en-US" sz="834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</a:t>
            </a:r>
            <a:r>
              <a:rPr 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包含餐點內容與相關資訊</a:t>
            </a:r>
            <a:endParaRPr lang="en-US" sz="834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3287911"/>
            <a:ext cx="27571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8C54D"/>
                </a:solidFill>
              </a:rPr>
              <a:t>03</a:t>
            </a:r>
            <a:endParaRPr lang="en-US" sz="2121" dirty="0">
              <a:solidFill>
                <a:srgbClr val="F8C54D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43000" y="3323630"/>
            <a:ext cx="836768" cy="177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運動紀錄功能</a:t>
            </a:r>
            <a:endParaRPr lang="en-US" sz="109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43000" y="3607594"/>
            <a:ext cx="31432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提供運動紀錄功能，使用者可記錄重訓與有氧的運動項目，</a:t>
            </a: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以利後續查</a:t>
            </a: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看</a:t>
            </a:r>
            <a:endParaRPr lang="en-US" sz="834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1500" y="4164806"/>
            <a:ext cx="27571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8C54D"/>
                </a:solidFill>
              </a:rPr>
              <a:t>04</a:t>
            </a:r>
            <a:endParaRPr lang="en-US" sz="2121" dirty="0">
              <a:solidFill>
                <a:srgbClr val="F8C54D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43000" y="4200525"/>
            <a:ext cx="836768" cy="177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 err="1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歷史資料</a:t>
            </a:r>
            <a:r>
              <a:rPr lang="zh-TW" altLang="en-US" sz="109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觀看</a:t>
            </a:r>
            <a:endParaRPr lang="en-US" sz="109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43000" y="4484489"/>
            <a:ext cx="214802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網站</a:t>
            </a:r>
            <a:r>
              <a:rPr 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可</a:t>
            </a:r>
            <a:r>
              <a:rPr lang="zh-TW" altLang="en-US" sz="834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依照使用者選擇</a:t>
            </a: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的日期顯示過往的資料</a:t>
            </a:r>
            <a:endParaRPr lang="en-US" sz="834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857750" y="1534120"/>
            <a:ext cx="27571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8C54D"/>
                </a:solidFill>
              </a:rPr>
              <a:t>05</a:t>
            </a:r>
            <a:endParaRPr lang="en-US" sz="2121" dirty="0">
              <a:solidFill>
                <a:srgbClr val="F8C54D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5429250" y="1569839"/>
            <a:ext cx="836768" cy="177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資料管理功能</a:t>
            </a:r>
            <a:endParaRPr lang="en-US" sz="109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29250" y="1853803"/>
            <a:ext cx="2577629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使用者可於</a:t>
            </a: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網站</a:t>
            </a:r>
            <a:r>
              <a:rPr 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中</a:t>
            </a: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新增、</a:t>
            </a: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刪除紀錄</a:t>
            </a:r>
            <a:r>
              <a:rPr lang="en-US" sz="834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</a:t>
            </a: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保持資料的正確性</a:t>
            </a:r>
            <a:endParaRPr lang="en-US" sz="834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57750" y="2239566"/>
            <a:ext cx="27571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8C54D"/>
                </a:solidFill>
              </a:rPr>
              <a:t>06</a:t>
            </a:r>
            <a:endParaRPr lang="en-US" sz="2121" dirty="0">
              <a:solidFill>
                <a:srgbClr val="F8C54D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5429250" y="2275284"/>
            <a:ext cx="836768" cy="177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後端資料管理</a:t>
            </a:r>
            <a:endParaRPr lang="en-US" sz="109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429250" y="2559248"/>
            <a:ext cx="3143250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後端負責管理使用者資料與紀錄內容</a:t>
            </a:r>
            <a:r>
              <a:rPr lang="en-US" sz="834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</a:t>
            </a: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確保資料庫運作穩定</a:t>
            </a:r>
            <a:endParaRPr lang="en-US" sz="834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57750" y="3116461"/>
            <a:ext cx="27571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8C54D"/>
                </a:solidFill>
              </a:rPr>
              <a:t>07</a:t>
            </a:r>
            <a:endParaRPr lang="en-US" sz="2121" dirty="0">
              <a:solidFill>
                <a:srgbClr val="F8C54D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5429250" y="3152180"/>
            <a:ext cx="976229" cy="177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響應式介面設計</a:t>
            </a:r>
            <a:endParaRPr lang="en-US" sz="109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29250" y="3436144"/>
            <a:ext cx="3220228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前端介面採用響應式設計，</a:t>
            </a:r>
            <a:r>
              <a:rPr lang="en-US" sz="834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讓使用者能於不同裝置上順利操作</a:t>
            </a:r>
            <a:r>
              <a:rPr lang="zh-TW" altLang="en-US" sz="834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網站</a:t>
            </a:r>
            <a:endParaRPr lang="en-US" sz="834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538883" cy="381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使用案例圖</a:t>
            </a:r>
            <a:endParaRPr lang="en-US" altLang="zh-TW" sz="2400" dirty="0">
              <a:solidFill>
                <a:srgbClr val="494949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1538883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 err="1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使用者與</a:t>
            </a:r>
            <a:r>
              <a:rPr lang="zh-TW" altLang="en-US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網站</a:t>
            </a:r>
            <a:r>
              <a:rPr lang="en-US" altLang="zh-TW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互動關係</a:t>
            </a:r>
            <a:endParaRPr lang="en-US" altLang="zh-TW" sz="12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286" y="428625"/>
            <a:ext cx="5691213" cy="43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3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846659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 smtClean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網站架構模擬</a:t>
            </a:r>
            <a:endParaRPr lang="en-US" altLang="zh-TW" sz="2400" dirty="0">
              <a:solidFill>
                <a:srgbClr val="494949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1671933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2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使用</a:t>
            </a:r>
            <a:r>
              <a:rPr lang="en-US" altLang="zh-TW" sz="1200" b="1" noProof="1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Figma</a:t>
            </a:r>
            <a:r>
              <a:rPr lang="zh-TW" altLang="en-US" sz="12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進行</a:t>
            </a:r>
            <a:r>
              <a:rPr lang="zh-TW" altLang="en-US" sz="12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視覺規劃</a:t>
            </a:r>
            <a:endParaRPr lang="en-US" altLang="zh-TW" sz="12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402" y="428625"/>
            <a:ext cx="5680680" cy="425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8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231106" cy="381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會員註冊</a:t>
            </a: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1692771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確保資料安全性與專屬性</a:t>
            </a:r>
            <a:endParaRPr lang="en-US" altLang="zh-TW" sz="12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11296" y="433428"/>
            <a:ext cx="2755423" cy="29110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註冊流程 (UC01)</a:t>
            </a:r>
            <a:endParaRPr lang="en-US" sz="1193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811296" y="76739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0" name="Text 7"/>
          <p:cNvSpPr/>
          <p:nvPr/>
        </p:nvSpPr>
        <p:spPr>
          <a:xfrm>
            <a:off x="3097046" y="769184"/>
            <a:ext cx="1128514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使用者進入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網站</a:t>
            </a:r>
            <a:r>
              <a:rPr lang="en-US" sz="800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註冊頁面</a:t>
            </a:r>
            <a:endParaRPr lang="en-US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811296" y="103456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2" name="Text 10"/>
          <p:cNvSpPr/>
          <p:nvPr/>
        </p:nvSpPr>
        <p:spPr>
          <a:xfrm>
            <a:off x="3097046" y="1036349"/>
            <a:ext cx="1436291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輸入帳號、密碼及個人基本資料</a:t>
            </a:r>
          </a:p>
        </p:txBody>
      </p:sp>
      <p:sp>
        <p:nvSpPr>
          <p:cNvPr id="13" name="Shape 11"/>
          <p:cNvSpPr/>
          <p:nvPr/>
        </p:nvSpPr>
        <p:spPr>
          <a:xfrm>
            <a:off x="2811296" y="130172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4" name="Text 13"/>
          <p:cNvSpPr/>
          <p:nvPr/>
        </p:nvSpPr>
        <p:spPr>
          <a:xfrm>
            <a:off x="3097046" y="1303514"/>
            <a:ext cx="123110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點擊</a:t>
            </a:r>
            <a:r>
              <a:rPr 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「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確定</a:t>
            </a:r>
            <a:r>
              <a:rPr 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」</a:t>
            </a:r>
            <a:r>
              <a:rPr 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按鈕送出資料</a:t>
            </a:r>
          </a:p>
        </p:txBody>
      </p:sp>
      <p:sp>
        <p:nvSpPr>
          <p:cNvPr id="15" name="Shape 14"/>
          <p:cNvSpPr/>
          <p:nvPr/>
        </p:nvSpPr>
        <p:spPr>
          <a:xfrm>
            <a:off x="2811296" y="156889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6" name="Text 16"/>
          <p:cNvSpPr/>
          <p:nvPr/>
        </p:nvSpPr>
        <p:spPr>
          <a:xfrm>
            <a:off x="3097046" y="1570679"/>
            <a:ext cx="1231106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後端</a:t>
            </a:r>
            <a:r>
              <a:rPr lang="en-US" sz="800" b="1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檢查資料格式與完整性</a:t>
            </a:r>
            <a:endParaRPr lang="en-US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4743302" y="765612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8" name="Text 19"/>
          <p:cNvSpPr/>
          <p:nvPr/>
        </p:nvSpPr>
        <p:spPr>
          <a:xfrm>
            <a:off x="5029052" y="767398"/>
            <a:ext cx="1333698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後端</a:t>
            </a:r>
            <a:r>
              <a:rPr lang="en-US" sz="800" b="1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確認無誤</a:t>
            </a:r>
            <a:r>
              <a:rPr lang="en-US" sz="800" b="1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，建立會員帳號</a:t>
            </a:r>
            <a:endParaRPr lang="en-US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4743302" y="1032777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20" name="Text 22"/>
          <p:cNvSpPr/>
          <p:nvPr/>
        </p:nvSpPr>
        <p:spPr>
          <a:xfrm>
            <a:off x="5029052" y="1034563"/>
            <a:ext cx="1025922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前端</a:t>
            </a:r>
            <a:r>
              <a:rPr lang="en-US" sz="800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顯示註冊成功訊息</a:t>
            </a:r>
            <a:endParaRPr lang="en-US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21" name="Text 40"/>
          <p:cNvSpPr/>
          <p:nvPr/>
        </p:nvSpPr>
        <p:spPr>
          <a:xfrm>
            <a:off x="2034442" y="4757722"/>
            <a:ext cx="71814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註冊</a:t>
            </a:r>
            <a:r>
              <a:rPr lang="en-US" sz="800" b="1" dirty="0" err="1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畫面示意圖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9318"/>
            <a:ext cx="3644031" cy="2372988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921" y="428625"/>
            <a:ext cx="2220450" cy="1389097"/>
          </a:xfrm>
          <a:prstGeom prst="rect">
            <a:avLst/>
          </a:prstGeom>
        </p:spPr>
      </p:pic>
      <p:sp>
        <p:nvSpPr>
          <p:cNvPr id="24" name="Text 40"/>
          <p:cNvSpPr/>
          <p:nvPr/>
        </p:nvSpPr>
        <p:spPr>
          <a:xfrm>
            <a:off x="7310777" y="1913709"/>
            <a:ext cx="820738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使用者加入活動圖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759" y="2269318"/>
            <a:ext cx="4042466" cy="2379939"/>
          </a:xfrm>
          <a:prstGeom prst="rect">
            <a:avLst/>
          </a:prstGeom>
        </p:spPr>
      </p:pic>
      <p:sp>
        <p:nvSpPr>
          <p:cNvPr id="26" name="Text 40"/>
          <p:cNvSpPr/>
          <p:nvPr/>
        </p:nvSpPr>
        <p:spPr>
          <a:xfrm>
            <a:off x="5919419" y="4750284"/>
            <a:ext cx="174406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尚未註冊時飲食與運動介面沒辦法使用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717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365" y="221653"/>
            <a:ext cx="1655333" cy="18166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231106" cy="381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會員登入</a:t>
            </a: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1692771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確保資料安全性與專屬性</a:t>
            </a:r>
            <a:endParaRPr lang="en-US" altLang="zh-TW" sz="12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11296" y="433428"/>
            <a:ext cx="2755423" cy="2762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193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登入</a:t>
            </a:r>
            <a:r>
              <a:rPr lang="en-US" altLang="zh-TW" sz="1193" b="1" dirty="0" err="1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流程</a:t>
            </a:r>
            <a:r>
              <a:rPr lang="en-US" altLang="zh-TW" sz="1193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(UC02)</a:t>
            </a:r>
            <a:endParaRPr lang="en-US" altLang="zh-TW" sz="1193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811296" y="76739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0" name="Text 7"/>
          <p:cNvSpPr/>
          <p:nvPr/>
        </p:nvSpPr>
        <p:spPr>
          <a:xfrm>
            <a:off x="3097046" y="769184"/>
            <a:ext cx="1128514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使用者進入</a:t>
            </a: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網站登入</a:t>
            </a:r>
            <a:r>
              <a:rPr lang="en-US" altLang="zh-TW" sz="800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頁面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811296" y="103456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2" name="Text 10"/>
          <p:cNvSpPr/>
          <p:nvPr/>
        </p:nvSpPr>
        <p:spPr>
          <a:xfrm>
            <a:off x="3097046" y="1036349"/>
            <a:ext cx="718145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800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輸入帳號</a:t>
            </a: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、</a:t>
            </a: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密碼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811296" y="130172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4" name="Text 13"/>
          <p:cNvSpPr/>
          <p:nvPr/>
        </p:nvSpPr>
        <p:spPr>
          <a:xfrm>
            <a:off x="3097046" y="1303514"/>
            <a:ext cx="1231106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TW" sz="800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點擊</a:t>
            </a: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「</a:t>
            </a: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確定</a:t>
            </a: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」</a:t>
            </a:r>
            <a:r>
              <a:rPr lang="en-US" altLang="zh-TW" sz="800" dirty="0" err="1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按鈕送出資料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2811296" y="156889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6" name="Text 16"/>
          <p:cNvSpPr/>
          <p:nvPr/>
        </p:nvSpPr>
        <p:spPr>
          <a:xfrm>
            <a:off x="3097046" y="1570679"/>
            <a:ext cx="1231106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zh-TW" altLang="en-US" sz="800" b="1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後端驗證帳號與密碼正確性</a:t>
            </a:r>
          </a:p>
        </p:txBody>
      </p:sp>
      <p:sp>
        <p:nvSpPr>
          <p:cNvPr id="17" name="Shape 17"/>
          <p:cNvSpPr/>
          <p:nvPr/>
        </p:nvSpPr>
        <p:spPr>
          <a:xfrm>
            <a:off x="2810720" y="1834680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8" name="Text 19"/>
          <p:cNvSpPr/>
          <p:nvPr/>
        </p:nvSpPr>
        <p:spPr>
          <a:xfrm>
            <a:off x="3096470" y="1836466"/>
            <a:ext cx="123110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驗證成功，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進入網站主</a:t>
            </a: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畫面</a:t>
            </a:r>
          </a:p>
        </p:txBody>
      </p:sp>
      <p:sp>
        <p:nvSpPr>
          <p:cNvPr id="21" name="Text 40"/>
          <p:cNvSpPr/>
          <p:nvPr/>
        </p:nvSpPr>
        <p:spPr>
          <a:xfrm>
            <a:off x="5670832" y="1930615"/>
            <a:ext cx="71814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登入</a:t>
            </a:r>
            <a:r>
              <a:rPr lang="en-US" sz="800" b="1" dirty="0" err="1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畫面示意圖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24" name="Text 40"/>
          <p:cNvSpPr/>
          <p:nvPr/>
        </p:nvSpPr>
        <p:spPr>
          <a:xfrm>
            <a:off x="7108155" y="1919289"/>
            <a:ext cx="820739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使用者登入活動</a:t>
            </a: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26" name="Text 40"/>
          <p:cNvSpPr/>
          <p:nvPr/>
        </p:nvSpPr>
        <p:spPr>
          <a:xfrm>
            <a:off x="7162364" y="3070495"/>
            <a:ext cx="1533061" cy="6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登入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後小字的部分會顯示每一個會員每日建議攝取量</a:t>
            </a:r>
            <a:endParaRPr lang="en-US" altLang="zh-TW" sz="800" b="1" dirty="0" smtClean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(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資料計算來源為時提供的資料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)</a:t>
            </a:r>
          </a:p>
          <a:p>
            <a:pPr marL="0" indent="0">
              <a:lnSpc>
                <a:spcPts val="900"/>
              </a:lnSpc>
              <a:buNone/>
            </a:pPr>
            <a:endParaRPr lang="en-US" altLang="zh-TW" sz="800" b="1" dirty="0" smtClean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  <a:p>
            <a:pPr>
              <a:lnSpc>
                <a:spcPts val="900"/>
              </a:lnSpc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下方大字</a:t>
            </a: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註冊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的部分是今日紀錄的</a:t>
            </a: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即時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攝取量 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 rotWithShape="1">
          <a:blip r:embed="rId4"/>
          <a:srcRect l="29727" t="25481" r="29110" b="17702"/>
          <a:stretch/>
        </p:blipFill>
        <p:spPr>
          <a:xfrm>
            <a:off x="5212624" y="490032"/>
            <a:ext cx="1634562" cy="1346434"/>
          </a:xfrm>
          <a:prstGeom prst="rect">
            <a:avLst/>
          </a:prstGeom>
        </p:spPr>
      </p:pic>
      <p:sp>
        <p:nvSpPr>
          <p:cNvPr id="29" name="Text 40"/>
          <p:cNvSpPr/>
          <p:nvPr/>
        </p:nvSpPr>
        <p:spPr>
          <a:xfrm>
            <a:off x="7162365" y="4206649"/>
            <a:ext cx="1533061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每一次回到首頁會有不同的飲食或運動的小知識 </a:t>
            </a:r>
            <a:endParaRPr lang="en-US" altLang="zh-TW" sz="800" b="1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(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串接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JSON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)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566" y="2320113"/>
            <a:ext cx="3964471" cy="2642981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819" y="2370996"/>
            <a:ext cx="1445419" cy="2371580"/>
          </a:xfrm>
          <a:prstGeom prst="rect">
            <a:avLst/>
          </a:prstGeom>
        </p:spPr>
      </p:pic>
      <p:sp>
        <p:nvSpPr>
          <p:cNvPr id="34" name="Text 40"/>
          <p:cNvSpPr/>
          <p:nvPr/>
        </p:nvSpPr>
        <p:spPr>
          <a:xfrm>
            <a:off x="1056512" y="4905386"/>
            <a:ext cx="872034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首頁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(</a:t>
            </a: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RWD</a:t>
            </a: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)</a:t>
            </a:r>
            <a:endParaRPr lang="en-US" altLang="zh-TW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31457" y="3174521"/>
            <a:ext cx="557521" cy="11214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接點 36"/>
          <p:cNvCxnSpPr>
            <a:stCxn id="35" idx="3"/>
          </p:cNvCxnSpPr>
          <p:nvPr/>
        </p:nvCxnSpPr>
        <p:spPr>
          <a:xfrm flipV="1">
            <a:off x="6388978" y="3230592"/>
            <a:ext cx="644868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831456" y="3460653"/>
            <a:ext cx="698817" cy="2535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接點 38"/>
          <p:cNvCxnSpPr/>
          <p:nvPr/>
        </p:nvCxnSpPr>
        <p:spPr>
          <a:xfrm flipV="1">
            <a:off x="6530273" y="3596059"/>
            <a:ext cx="503573" cy="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4339392" y="4018570"/>
            <a:ext cx="1035690" cy="6647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/>
          <p:cNvCxnSpPr/>
          <p:nvPr/>
        </p:nvCxnSpPr>
        <p:spPr>
          <a:xfrm>
            <a:off x="5375082" y="4352969"/>
            <a:ext cx="165876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3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19" y="2196566"/>
            <a:ext cx="1436443" cy="23798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846659" cy="381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飲食紀錄管理</a:t>
            </a: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923330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健康資料追蹤</a:t>
            </a:r>
          </a:p>
        </p:txBody>
      </p:sp>
      <p:sp>
        <p:nvSpPr>
          <p:cNvPr id="8" name="Text 4"/>
          <p:cNvSpPr/>
          <p:nvPr/>
        </p:nvSpPr>
        <p:spPr>
          <a:xfrm>
            <a:off x="2811296" y="433428"/>
            <a:ext cx="2755423" cy="2762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193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新增飲食紀錄 </a:t>
            </a:r>
            <a:r>
              <a:rPr lang="en-US" altLang="zh-TW" sz="1193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(UC03)</a:t>
            </a:r>
          </a:p>
        </p:txBody>
      </p:sp>
      <p:sp>
        <p:nvSpPr>
          <p:cNvPr id="9" name="Shape 5"/>
          <p:cNvSpPr/>
          <p:nvPr/>
        </p:nvSpPr>
        <p:spPr>
          <a:xfrm>
            <a:off x="2811296" y="76739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0" name="Text 7"/>
          <p:cNvSpPr/>
          <p:nvPr/>
        </p:nvSpPr>
        <p:spPr>
          <a:xfrm>
            <a:off x="3097046" y="769184"/>
            <a:ext cx="1436291" cy="1495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使用者登入後進入飲食紀錄頁面</a:t>
            </a:r>
          </a:p>
        </p:txBody>
      </p:sp>
      <p:sp>
        <p:nvSpPr>
          <p:cNvPr id="11" name="Shape 8"/>
          <p:cNvSpPr/>
          <p:nvPr/>
        </p:nvSpPr>
        <p:spPr>
          <a:xfrm>
            <a:off x="2811296" y="103456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2" name="Text 10"/>
          <p:cNvSpPr/>
          <p:nvPr/>
        </p:nvSpPr>
        <p:spPr>
          <a:xfrm>
            <a:off x="3097046" y="1036349"/>
            <a:ext cx="1593385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點擊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「+」</a:t>
            </a:r>
            <a:r>
              <a:rPr lang="en-US" altLang="zh-TW" sz="800" dirty="0" err="1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並輸入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飲食或飲水的資料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811296" y="130172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4" name="Text 13"/>
          <p:cNvSpPr/>
          <p:nvPr/>
        </p:nvSpPr>
        <p:spPr>
          <a:xfrm>
            <a:off x="3097046" y="1303514"/>
            <a:ext cx="1436291" cy="159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確認無誤後送出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，儲存至資料庫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2811296" y="156889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6" name="Text 16"/>
          <p:cNvSpPr/>
          <p:nvPr/>
        </p:nvSpPr>
        <p:spPr>
          <a:xfrm>
            <a:off x="3097046" y="1570679"/>
            <a:ext cx="1538883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儲存成功後顯示飲食或飲水的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清單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21" name="Text 40"/>
          <p:cNvSpPr/>
          <p:nvPr/>
        </p:nvSpPr>
        <p:spPr>
          <a:xfrm>
            <a:off x="2107184" y="4799791"/>
            <a:ext cx="71814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飲食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紀錄</a:t>
            </a:r>
            <a:r>
              <a:rPr 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24" name="Text 40"/>
          <p:cNvSpPr/>
          <p:nvPr/>
        </p:nvSpPr>
        <p:spPr>
          <a:xfrm>
            <a:off x="322216" y="4799791"/>
            <a:ext cx="102592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使用者新增飲食活動圖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4"/>
          <a:srcRect l="36359" t="7500" r="36071" b="-486"/>
          <a:stretch/>
        </p:blipFill>
        <p:spPr>
          <a:xfrm>
            <a:off x="1771203" y="2141920"/>
            <a:ext cx="1390108" cy="2611147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204" y="453262"/>
            <a:ext cx="1855825" cy="1057961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791" y="438743"/>
            <a:ext cx="1396659" cy="1274729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8828" y="2245323"/>
            <a:ext cx="4112401" cy="2352219"/>
          </a:xfrm>
          <a:prstGeom prst="rect">
            <a:avLst/>
          </a:prstGeom>
        </p:spPr>
      </p:pic>
      <p:sp>
        <p:nvSpPr>
          <p:cNvPr id="31" name="Text 40"/>
          <p:cNvSpPr/>
          <p:nvPr/>
        </p:nvSpPr>
        <p:spPr>
          <a:xfrm>
            <a:off x="5638043" y="1604366"/>
            <a:ext cx="71814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飲水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紀錄</a:t>
            </a:r>
            <a:r>
              <a:rPr 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2" name="Text 40"/>
          <p:cNvSpPr/>
          <p:nvPr/>
        </p:nvSpPr>
        <p:spPr>
          <a:xfrm>
            <a:off x="7331567" y="1793555"/>
            <a:ext cx="123110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可以依照選擇的日期做紀錄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3" name="Text 40"/>
          <p:cNvSpPr/>
          <p:nvPr/>
        </p:nvSpPr>
        <p:spPr>
          <a:xfrm>
            <a:off x="6647171" y="4791840"/>
            <a:ext cx="923331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飲食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紀錄畫面</a:t>
            </a:r>
            <a:r>
              <a:rPr 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34" name="圖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136" y="2143928"/>
            <a:ext cx="1447633" cy="2609139"/>
          </a:xfrm>
          <a:prstGeom prst="rect">
            <a:avLst/>
          </a:prstGeom>
        </p:spPr>
      </p:pic>
      <p:sp>
        <p:nvSpPr>
          <p:cNvPr id="36" name="Text 40"/>
          <p:cNvSpPr/>
          <p:nvPr/>
        </p:nvSpPr>
        <p:spPr>
          <a:xfrm>
            <a:off x="3343753" y="4791840"/>
            <a:ext cx="128240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飲食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紀錄畫面</a:t>
            </a:r>
            <a:r>
              <a:rPr 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(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RWD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)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2811296" y="1839332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38" name="Text 16"/>
          <p:cNvSpPr/>
          <p:nvPr/>
        </p:nvSpPr>
        <p:spPr>
          <a:xfrm>
            <a:off x="3097046" y="1841118"/>
            <a:ext cx="1490793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點擊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「x」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可進行刪除資料的動作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101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846659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運動</a:t>
            </a:r>
            <a:r>
              <a:rPr lang="zh-TW" altLang="en-US" sz="2400" b="1" dirty="0" smtClean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紀錄</a:t>
            </a: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管理</a:t>
            </a: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923330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健康資料追蹤</a:t>
            </a:r>
          </a:p>
        </p:txBody>
      </p:sp>
      <p:sp>
        <p:nvSpPr>
          <p:cNvPr id="8" name="Text 4"/>
          <p:cNvSpPr/>
          <p:nvPr/>
        </p:nvSpPr>
        <p:spPr>
          <a:xfrm>
            <a:off x="2811296" y="433428"/>
            <a:ext cx="2755423" cy="29110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193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新增運動紀錄 </a:t>
            </a:r>
            <a:r>
              <a:rPr lang="en-US" altLang="zh-TW" sz="1193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(</a:t>
            </a:r>
            <a:r>
              <a:rPr lang="en-US" altLang="zh-TW" sz="1193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UC04)</a:t>
            </a:r>
            <a:endParaRPr lang="en-US" altLang="zh-TW" sz="1193" b="1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811296" y="76739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0" name="Text 7"/>
          <p:cNvSpPr/>
          <p:nvPr/>
        </p:nvSpPr>
        <p:spPr>
          <a:xfrm>
            <a:off x="3097046" y="769184"/>
            <a:ext cx="143629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使用者登入後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進入運動紀錄</a:t>
            </a:r>
            <a:r>
              <a:rPr lang="zh-TW" altLang="en-US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頁面</a:t>
            </a:r>
          </a:p>
        </p:txBody>
      </p:sp>
      <p:sp>
        <p:nvSpPr>
          <p:cNvPr id="11" name="Shape 8"/>
          <p:cNvSpPr/>
          <p:nvPr/>
        </p:nvSpPr>
        <p:spPr>
          <a:xfrm>
            <a:off x="2811296" y="103456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2" name="Text 10"/>
          <p:cNvSpPr/>
          <p:nvPr/>
        </p:nvSpPr>
        <p:spPr>
          <a:xfrm>
            <a:off x="3097046" y="1036349"/>
            <a:ext cx="1593385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點擊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「+」並輸入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重訓、有氧的資料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811296" y="1301728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4" name="Text 13"/>
          <p:cNvSpPr/>
          <p:nvPr/>
        </p:nvSpPr>
        <p:spPr>
          <a:xfrm>
            <a:off x="3097046" y="1303514"/>
            <a:ext cx="1436291" cy="159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確認無誤後送出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，儲存至資料庫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2811296" y="1568893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6" name="Text 16"/>
          <p:cNvSpPr/>
          <p:nvPr/>
        </p:nvSpPr>
        <p:spPr>
          <a:xfrm>
            <a:off x="3097046" y="1570679"/>
            <a:ext cx="1538883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儲存成功後顯示重訓或有氧的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清單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sp>
        <p:nvSpPr>
          <p:cNvPr id="21" name="Text 40"/>
          <p:cNvSpPr/>
          <p:nvPr/>
        </p:nvSpPr>
        <p:spPr>
          <a:xfrm>
            <a:off x="5846072" y="1960149"/>
            <a:ext cx="71814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飲食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紀錄</a:t>
            </a:r>
            <a:r>
              <a:rPr 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24" name="Text 40"/>
          <p:cNvSpPr/>
          <p:nvPr/>
        </p:nvSpPr>
        <p:spPr>
          <a:xfrm>
            <a:off x="660863" y="4799791"/>
            <a:ext cx="102592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使用者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新增運動活動</a:t>
            </a: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791" y="414106"/>
            <a:ext cx="1396659" cy="1274729"/>
          </a:xfrm>
          <a:prstGeom prst="rect">
            <a:avLst/>
          </a:prstGeom>
        </p:spPr>
      </p:pic>
      <p:sp>
        <p:nvSpPr>
          <p:cNvPr id="32" name="Text 40"/>
          <p:cNvSpPr/>
          <p:nvPr/>
        </p:nvSpPr>
        <p:spPr>
          <a:xfrm>
            <a:off x="7331567" y="1768918"/>
            <a:ext cx="123110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可以依照選擇的日期做紀錄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3" name="Text 40"/>
          <p:cNvSpPr/>
          <p:nvPr/>
        </p:nvSpPr>
        <p:spPr>
          <a:xfrm>
            <a:off x="6142626" y="4799308"/>
            <a:ext cx="923331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運動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紀錄畫面</a:t>
            </a:r>
            <a:r>
              <a:rPr 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sp>
        <p:nvSpPr>
          <p:cNvPr id="36" name="Text 40"/>
          <p:cNvSpPr/>
          <p:nvPr/>
        </p:nvSpPr>
        <p:spPr>
          <a:xfrm>
            <a:off x="2437148" y="4801145"/>
            <a:ext cx="128240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運動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紀錄畫面</a:t>
            </a:r>
            <a:r>
              <a:rPr 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示意圖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(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RWD</a:t>
            </a: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)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11" y="2140375"/>
            <a:ext cx="1457581" cy="2562114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44" y="172475"/>
            <a:ext cx="1438602" cy="1651728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544" y="2156876"/>
            <a:ext cx="4381906" cy="2554313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3100" y="2159790"/>
            <a:ext cx="1575457" cy="2420673"/>
          </a:xfrm>
          <a:prstGeom prst="rect">
            <a:avLst/>
          </a:prstGeom>
        </p:spPr>
      </p:pic>
      <p:sp>
        <p:nvSpPr>
          <p:cNvPr id="35" name="Shape 14"/>
          <p:cNvSpPr/>
          <p:nvPr/>
        </p:nvSpPr>
        <p:spPr>
          <a:xfrm>
            <a:off x="2811296" y="1839332"/>
            <a:ext cx="200025" cy="200025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37" name="Text 16"/>
          <p:cNvSpPr/>
          <p:nvPr/>
        </p:nvSpPr>
        <p:spPr>
          <a:xfrm>
            <a:off x="3097046" y="1841118"/>
            <a:ext cx="1482778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TW" sz="800" dirty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點擊「x」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可進行刪除資料的動作</a:t>
            </a:r>
            <a:endParaRPr lang="en-US" altLang="zh-TW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140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538883" cy="381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資料庫設計</a:t>
            </a: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1384995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穩定可靠的系統基礎</a:t>
            </a:r>
          </a:p>
        </p:txBody>
      </p:sp>
      <p:sp>
        <p:nvSpPr>
          <p:cNvPr id="33" name="Text 40"/>
          <p:cNvSpPr/>
          <p:nvPr/>
        </p:nvSpPr>
        <p:spPr>
          <a:xfrm>
            <a:off x="802695" y="2968459"/>
            <a:ext cx="1128514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建立四個資料庫存放資料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8238"/>
            <a:ext cx="1590897" cy="1343212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429" y="428625"/>
            <a:ext cx="6063071" cy="742120"/>
          </a:xfrm>
          <a:prstGeom prst="rect">
            <a:avLst/>
          </a:prstGeom>
        </p:spPr>
      </p:pic>
      <p:sp>
        <p:nvSpPr>
          <p:cNvPr id="28" name="Text 40"/>
          <p:cNvSpPr/>
          <p:nvPr/>
        </p:nvSpPr>
        <p:spPr>
          <a:xfrm>
            <a:off x="2509429" y="1256773"/>
            <a:ext cx="428963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users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的資料表 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: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endParaRPr lang="en-US" altLang="zh-TW" sz="800" dirty="0" smtClean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密碼的部分是用 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password_hash()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的函數加密，後台沒辦法隨意看到使用者設定的明碼。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  <a:p>
            <a:pPr marL="171450" indent="-171450">
              <a:lnSpc>
                <a:spcPts val="9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註冊時提供的這些資料使用來計算每人的每日建議攝取量。 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(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 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TDEE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 、 水量、鈉含量、糖分 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Light" panose="020B0200000000000000" pitchFamily="34" charset="-120"/>
                <a:ea typeface="Noto Sans TC Light" panose="020B0200000000000000" pitchFamily="34" charset="-120"/>
              </a:rPr>
              <a:t>)</a:t>
            </a:r>
            <a:endParaRPr lang="en-US" sz="800" dirty="0">
              <a:solidFill>
                <a:srgbClr val="494949"/>
              </a:solidFill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430" y="1807829"/>
            <a:ext cx="4225326" cy="986877"/>
          </a:xfrm>
          <a:prstGeom prst="rect">
            <a:avLst/>
          </a:prstGeom>
        </p:spPr>
      </p:pic>
      <p:sp>
        <p:nvSpPr>
          <p:cNvPr id="30" name="Text 40"/>
          <p:cNvSpPr/>
          <p:nvPr/>
        </p:nvSpPr>
        <p:spPr>
          <a:xfrm>
            <a:off x="2509429" y="2930319"/>
            <a:ext cx="4756110" cy="6694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 err="1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food_records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的資</a:t>
            </a:r>
            <a:r>
              <a:rPr lang="zh-TW" altLang="en-US" sz="800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料表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: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SESSION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紀錄使用者登入的帳號，抓取對應帳號的飲食資料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圖片使用路徑紀錄，使用者上傳圖片會在本地的資料夾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uploads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內新增圖片，提供給渲染畫面時做使用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每筆資料有對應的日期，會抓取使用者在前端選取的日期做渲染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065" y="1923230"/>
            <a:ext cx="2112775" cy="77926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9429" y="3687638"/>
            <a:ext cx="3167801" cy="1276943"/>
          </a:xfrm>
          <a:prstGeom prst="rect">
            <a:avLst/>
          </a:prstGeom>
        </p:spPr>
      </p:pic>
      <p:sp>
        <p:nvSpPr>
          <p:cNvPr id="15" name="Text 40"/>
          <p:cNvSpPr/>
          <p:nvPr/>
        </p:nvSpPr>
        <p:spPr>
          <a:xfrm>
            <a:off x="5994233" y="3779846"/>
            <a:ext cx="2776056" cy="85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 err="1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water_records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的資</a:t>
            </a:r>
            <a:r>
              <a:rPr lang="zh-TW" altLang="en-US" sz="800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料表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: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使用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SESSION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紀錄使用者登入的帳號，抓取對應帳號的飲食資料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每筆資料有對應的日期，會抓取使用者在前端選取的日期做渲染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050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57150" cy="819745"/>
          </a:xfrm>
          <a:prstGeom prst="rect">
            <a:avLst/>
          </a:prstGeom>
          <a:solidFill>
            <a:srgbClr val="F8C5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1538883" cy="381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400" b="1" dirty="0">
                <a:solidFill>
                  <a:srgbClr val="494949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資料庫設計</a:t>
            </a:r>
          </a:p>
        </p:txBody>
      </p:sp>
      <p:sp>
        <p:nvSpPr>
          <p:cNvPr id="6" name="Text 3"/>
          <p:cNvSpPr/>
          <p:nvPr/>
        </p:nvSpPr>
        <p:spPr>
          <a:xfrm>
            <a:off x="785813" y="998339"/>
            <a:ext cx="1384995" cy="190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TW" altLang="en-US" sz="1200" b="1" dirty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穩定可靠的系統基礎</a:t>
            </a:r>
          </a:p>
        </p:txBody>
      </p:sp>
      <p:sp>
        <p:nvSpPr>
          <p:cNvPr id="33" name="Text 40"/>
          <p:cNvSpPr/>
          <p:nvPr/>
        </p:nvSpPr>
        <p:spPr>
          <a:xfrm>
            <a:off x="802695" y="2968459"/>
            <a:ext cx="1128514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zh-TW" altLang="en-US" sz="800" b="1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建立四個資料庫存放資料</a:t>
            </a:r>
            <a:endParaRPr lang="en-US" sz="800" dirty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8238"/>
            <a:ext cx="1590897" cy="1343212"/>
          </a:xfrm>
          <a:prstGeom prst="rect">
            <a:avLst/>
          </a:prstGeom>
        </p:spPr>
      </p:pic>
      <p:sp>
        <p:nvSpPr>
          <p:cNvPr id="28" name="Text 40"/>
          <p:cNvSpPr/>
          <p:nvPr/>
        </p:nvSpPr>
        <p:spPr>
          <a:xfrm>
            <a:off x="2509428" y="3099210"/>
            <a:ext cx="5974613" cy="669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altLang="zh-TW" sz="800" dirty="0" err="1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sport_records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的資料表 </a:t>
            </a:r>
            <a:r>
              <a:rPr lang="en-US" altLang="zh-TW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:</a:t>
            </a:r>
            <a:r>
              <a:rPr lang="zh-TW" altLang="en-US" sz="800" dirty="0" smtClean="0">
                <a:solidFill>
                  <a:srgbClr val="494949"/>
                </a:solidFill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 </a:t>
            </a:r>
            <a:endParaRPr lang="en-US" altLang="zh-TW" sz="800" dirty="0" smtClean="0">
              <a:solidFill>
                <a:srgbClr val="494949"/>
              </a:solidFill>
              <a:latin typeface="Noto Sans TC DemiLight" panose="020B0200000000000000" pitchFamily="34" charset="-120"/>
              <a:ea typeface="Noto Sans TC DemiLight" panose="020B0200000000000000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透過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SESSION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記住使用者</a:t>
            </a:r>
            <a:r>
              <a:rPr lang="zh-TW" altLang="en-US" sz="800" dirty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登入的帳號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，抓取對應帳號的運動資料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每筆資料有對應的</a:t>
            </a:r>
            <a:r>
              <a:rPr lang="zh-TW" altLang="en-US" sz="800" dirty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日期，畫面上會依照使用者選的日期去顯示對應的資料</a:t>
            </a:r>
            <a:endParaRPr lang="en-US" altLang="zh-TW" sz="800" dirty="0" smtClean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運動項目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(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 </a:t>
            </a:r>
            <a:r>
              <a:rPr lang="en-US" altLang="zh-TW" sz="800" dirty="0" err="1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sport_items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 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)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 像器材、</a:t>
            </a:r>
            <a:r>
              <a:rPr lang="zh-TW" altLang="en-US" sz="800" dirty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組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數，用了</a:t>
            </a:r>
            <a:r>
              <a:rPr lang="en-US" altLang="zh-TW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JSON</a:t>
            </a:r>
            <a:r>
              <a:rPr lang="zh-TW" altLang="en-US" sz="800" dirty="0" smtClean="0">
                <a:latin typeface="Noto Sans TC Light" panose="020B0200000000000000" pitchFamily="34" charset="-120"/>
                <a:ea typeface="Noto Sans TC Light" panose="020B0200000000000000" pitchFamily="34" charset="-120"/>
              </a:rPr>
              <a:t>格式做紀錄</a:t>
            </a:r>
            <a:endParaRPr lang="en-US" altLang="zh-TW" sz="800" dirty="0">
              <a:latin typeface="Noto Sans TC Light" panose="020B0200000000000000" pitchFamily="34" charset="-120"/>
              <a:ea typeface="Noto Sans TC Light" panose="020B0200000000000000" pitchFamily="34" charset="-120"/>
            </a:endParaRP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430" y="1558238"/>
            <a:ext cx="6093816" cy="13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9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C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63873" y="2324732"/>
            <a:ext cx="2551981" cy="692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zh-TW" altLang="en-US" sz="4974" dirty="0" smtClean="0">
                <a:solidFill>
                  <a:srgbClr val="494949"/>
                </a:solidFill>
                <a:latin typeface="Noto Sans TC Black" panose="020B0200000000000000" pitchFamily="34" charset="-120"/>
                <a:ea typeface="Noto Sans TC Black" panose="020B0200000000000000" pitchFamily="34" charset="-120"/>
              </a:rPr>
              <a:t>報告結束</a:t>
            </a:r>
            <a:endParaRPr lang="en-US" sz="4974" dirty="0">
              <a:solidFill>
                <a:srgbClr val="494949"/>
              </a:solidFill>
              <a:latin typeface="Noto Sans TC Black" panose="020B0200000000000000" pitchFamily="34" charset="-120"/>
              <a:ea typeface="Noto Sans TC Black" panose="020B0200000000000000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329494" y="3101474"/>
            <a:ext cx="820738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感謝聆聽</a:t>
            </a:r>
            <a:endParaRPr lang="en-US" sz="1602" dirty="0"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688</Words>
  <Application>Microsoft Office PowerPoint</Application>
  <PresentationFormat>如螢幕大小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Noto Sans TC Black</vt:lpstr>
      <vt:lpstr>Noto Sans TC DemiLight</vt:lpstr>
      <vt:lpstr>Noto Sans TC Light</vt:lpstr>
      <vt:lpstr>Noto Sans TC Medium</vt:lpstr>
      <vt:lpstr>新細明體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77</cp:revision>
  <dcterms:created xsi:type="dcterms:W3CDTF">2025-12-30T03:28:37Z</dcterms:created>
  <dcterms:modified xsi:type="dcterms:W3CDTF">2025-12-31T01:41:08Z</dcterms:modified>
</cp:coreProperties>
</file>